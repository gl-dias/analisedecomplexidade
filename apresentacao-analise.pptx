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721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noite. Implementamos as tres sequencias pedidas, medimos tempo de execucao em onze versoes diferentes e o resultado mais interessante nao foi confirmar a teoria - foi encontrar os pontos onde ela nao descreve o que o relogio mostra.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dos resultados, tres cuidados na medicao, porque cada um deles muda o numero. Primeiro: mediana em vez de media, porque um unico pico de escalonamento do sistema operacional contamina a media. Segundo, e o mais importante: o cache da versao memoizada e recriado a cada medicao - se ele sobrevivesse entre repeticoes, da segunda em diante o tempo daria praticamente zero e o benchmark inteiro seria invalido. Terceiro: desligamos o coletor de lixo durante a medicao, porque uma coleta disparada no meio acrescenta dezenas de milissegundos que nao tem nada a ver com o algoritmo.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versoes de Fibonacci. A recursiva pura e Theta(phi elevado a n) - e nao Theta(2 elevado a n): a arvore de chamadas nao e cheia, porque um ramo desce n-1 e o outro n-2, e o numero de folhas e exatamente F(n). A memoizada nao muda o algoritmo, muda a arvore: eliminar o recalculo derruba de exponencial para linear. A iterativa faz o mesmo com memoria constante, e a matricial troca a recorrencia por exponenciacao rapida de matriz. Na tabela esta o numero que resume o exercicio: em F(30) a versao pela definicao leva 107 milissegundos e a iterativa 662 nanossegundos, um fator de 162 mil. Mas olhem a coluna de F(5): as quatro empatam, e a recursiva chega a ganhar da matricial. O desastre nao esta no algoritmo, esta no crescimento.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graficos de Fibonacci, e cada um responde uma coisa. O primeiro, em escala linear, mostra por que precisamos de escala log: as tres curvas rapidas ficam coladas no zero, nao por serem iguais entre si, mas porque a recursiva e milhoes de vezes mais lenta. O segundo, em log, transforma o exponencial em reta - cada mais um no n multiplica o tempo por 1,6 - e ja revela que a matricial e a mais lenta das tres para n pequeno. O terceiro e o quarto sao o achado principal. No grafico de cruzamento, a matricial so passa a compensar a partir de n em torno de 129: cada passo da exponenciacao faz oito multiplicacoes de inteiros contra uma soma por passo da iterativa. E no grafico log-log, a inclinacao da reta e o expoente do crescimento: medimos 1,53 para a matricial, quando a teoria previa aproximadamente zero. O numero 1,585, que e log na base 2 de 3, e o expoente de Karatsuba, o algoritmo que o CPython usa para multiplicar inteiros grandes. Ou seja: o que estamos cronometrando ja nao e o algoritmo, e a multiplicacao.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Pell tem a mesma estrutura de recorrencia linear de segunda ordem, com matriz 2 1 1 0, e os tempos sao quase identicos aos de Fibonacci - guardem isso, e a pista do slide final. A aplicacao que implementamos e a que motiva a sequencia: a razao entre o numero de Pell e seu companheiro resolve a equacao de Pell x ao quadrado menos 2 y ao quadrado igual a mais ou menos 1, e converge para raiz de 2. Com n igual a 20, ou seja, vinte iteracoes de uma soma e uma multiplicacao, ja temos raiz de 2 com erro na decima quinta casa - cada termo acrescenta cerca de 0,77 digito correto.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graficos de Pell. No primeiro, em escala log, as tres versoes: a recursiva e uma reta ascendente, exponencial, e o detalhe importante e a base dessa reta. Nossa intuicao dizia 2,414, que e a razao de prata e a taxa com que os VALORES de Pell crescem. Mas a base medida e 1,618, a mesma de Fibonacci - porque a arvore de chamadas e identica: dois ramos, n-1 e n-2. O vezes dois muda o valor, nao o numero de chamadas. No segundo grafico, para n grande, iterativa contra matricial: as duas viram retas em log-log e a matricial fica cerca de quatro vezes abaixo, fazendo a mesma aritmetica de inteiros gigantes com muito menos passos.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Catalan trouxe o erro mais instrutivo do trabalho. Nossa primeira analise disse que a recursiva era Theta de 4 elevado a n sobre n elevado a 1,5, pelo argumento de que a arvore tem C(n) folhas. Esta errado. Cada no dispara 2n chamadas filhas, nao n, porque cada termo do somatorio e um produto de duas chamadas. Fechando a recorrencia, chega-se a Theta de 3 elevado a n, com exatamente 4 vezes 3 elevado a n menos 2 folhas. Conferimos de duas formas: instrumentando a funcao com um contador, e medindo a base de crescimento na propria serie de tempos, que deu 3,00. Reparem tambem na ultima linha da tabela: math.comb tem a mesma ordem Theta(n) da formula multiplicativa, mas e vinte vezes mais rapida por ser implementada em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graficos de Catalan. No primeiro, em escala log, a recursiva e uma reta muito mais inclinada que as de Fibonacci e Pell: cada mais um no n multiplica o tempo por tres, e nao por 1,6. E essa inclinacao medida e a confirmacao empirica do Theta de 3 elevado a n. Reparem tambem que em n igual a 2 a recursiva ainda ganha das outras duas, porque nao tem estrutura de dados nenhuma para montar. No segundo grafico, para n grande, a DP quadratica se distancia das outras duas, enquanto a formula multiplicativa e o math.comb ficam paralelos: mesma ordem Theta(n), separadas apenas pela constante de uma estar implementada em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resposta do enunciado, consolidada. E ela tem uma caracteristica que so aparece em Python: nao existe limite de overflow, porque os inteiros sao de precisao arbitraria. Em C ou Java com int64, Fibonacci estouraria em F(93). Aqui o teto e sempre outra coisa. Na versao pela definicao, o teto e tempo: n igual a 34. Na memoizada, e a pilha de recursao: RecursionError em 996, e esse numero nem e uma constante universal - e o limite do CPython menos os quadros ja ocupados por quem chamou. Nas rapidas, o teto e o custo de manipular o numero em si: em n de dois milhoes, F(n) tem 437 mil digitos, e so imprimir esse numero ja esbarra no limite de conversao de inteiro para texto do Python 3.11 em 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Fechando com a licao que atravessa os tres exercicios: o custo de um algoritmo e o tamanho do numero que ele produz sao coisas diferentes, e confundir as duas foi o erro que cometemos duas vezes - em Pell e em Catalan. A prova esta nos nossos proprios dados: as versoes recursivas de Fibonacci e de Pell param exatamente no mesmo n igual a 34. A arvore de chamadas e identica. E a segunda licao: complexidade assintotica descreve o comportamento no limite; ela nao diz qual versao e mais rapida no n que voce usa, nem vale quando a operacao basica deixa de custar constante. Referencias completas e a declaracao de uso de IA, com os nove prompts na ordem em que foram usados - incluindo o de revisao, que e o que pegou o erro do Theta de 3 elevado a n.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IBM0798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8503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complexidade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9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Fibonacci, Pell e Catalan · 11 implementações medidas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2926080" cy="0"/>
          </a:xfrm>
          <a:prstGeom prst="line">
            <a:avLst/>
          </a:prstGeom>
          <a:noFill/>
          <a:ln w="12700">
            <a:solidFill>
              <a:srgbClr val="3A45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Dias   ·   Breno Chaves   ·   Barbara Malta   ·   Guilherme Rocha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Cassius Figueiredo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6213348"/>
            <a:ext cx="219456" cy="50292"/>
          </a:xfrm>
          <a:prstGeom prst="roundRect">
            <a:avLst>
              <a:gd name="adj" fmla="val 54545"/>
            </a:avLst>
          </a:prstGeom>
          <a:solidFill>
            <a:srgbClr val="C4402F">
              <a:alpha val="38000"/>
            </a:srgbClr>
          </a:solidFill>
          <a:ln w="12700">
            <a:solidFill>
              <a:srgbClr val="C440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27848" y="6196249"/>
            <a:ext cx="219456" cy="67391"/>
          </a:xfrm>
          <a:prstGeom prst="roundRect">
            <a:avLst>
              <a:gd name="adj" fmla="val 40706"/>
            </a:avLst>
          </a:prstGeom>
          <a:solidFill>
            <a:srgbClr val="C4402F">
              <a:alpha val="44000"/>
            </a:srgbClr>
          </a:solidFill>
          <a:ln w="12700">
            <a:solidFill>
              <a:srgbClr val="C440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66176" y="6173336"/>
            <a:ext cx="219456" cy="90304"/>
          </a:xfrm>
          <a:prstGeom prst="roundRect">
            <a:avLst>
              <a:gd name="adj" fmla="val 30377"/>
            </a:avLst>
          </a:prstGeom>
          <a:solidFill>
            <a:srgbClr val="C4402F">
              <a:alpha val="50000"/>
            </a:srgbClr>
          </a:solidFill>
          <a:ln w="12700">
            <a:solidFill>
              <a:srgbClr val="C440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04504" y="6142632"/>
            <a:ext cx="219456" cy="121008"/>
          </a:xfrm>
          <a:prstGeom prst="roundRect">
            <a:avLst>
              <a:gd name="adj" fmla="val 22670"/>
            </a:avLst>
          </a:prstGeom>
          <a:solidFill>
            <a:srgbClr val="C4402F">
              <a:alpha val="56000"/>
            </a:srgbClr>
          </a:solidFill>
          <a:ln w="12700">
            <a:solidFill>
              <a:srgbClr val="C440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42832" y="6101490"/>
            <a:ext cx="219456" cy="162150"/>
          </a:xfrm>
          <a:prstGeom prst="roundRect">
            <a:avLst>
              <a:gd name="adj" fmla="val 16918"/>
            </a:avLst>
          </a:prstGeom>
          <a:solidFill>
            <a:srgbClr val="C4402F">
              <a:alpha val="62000"/>
            </a:srgbClr>
          </a:solidFill>
          <a:ln w="12700">
            <a:solidFill>
              <a:srgbClr val="C440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81160" y="6046358"/>
            <a:ext cx="219456" cy="217282"/>
          </a:xfrm>
          <a:prstGeom prst="roundRect">
            <a:avLst>
              <a:gd name="adj" fmla="val 12625"/>
            </a:avLst>
          </a:prstGeom>
          <a:solidFill>
            <a:srgbClr val="C4402F">
              <a:alpha val="68000"/>
            </a:srgbClr>
          </a:solidFill>
          <a:ln w="12700">
            <a:solidFill>
              <a:srgbClr val="C440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19488" y="5972483"/>
            <a:ext cx="219456" cy="291157"/>
          </a:xfrm>
          <a:prstGeom prst="roundRect">
            <a:avLst>
              <a:gd name="adj" fmla="val 12500"/>
            </a:avLst>
          </a:prstGeom>
          <a:solidFill>
            <a:srgbClr val="C4402F">
              <a:alpha val="74000"/>
            </a:srgbClr>
          </a:solidFill>
          <a:ln w="12700">
            <a:solidFill>
              <a:srgbClr val="C440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57816" y="5873489"/>
            <a:ext cx="219456" cy="390151"/>
          </a:xfrm>
          <a:prstGeom prst="roundRect">
            <a:avLst>
              <a:gd name="adj" fmla="val 12500"/>
            </a:avLst>
          </a:prstGeom>
          <a:solidFill>
            <a:srgbClr val="C4402F">
              <a:alpha val="80000"/>
            </a:srgbClr>
          </a:solidFill>
          <a:ln w="12700">
            <a:solidFill>
              <a:srgbClr val="C440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96144" y="5740838"/>
            <a:ext cx="219456" cy="522802"/>
          </a:xfrm>
          <a:prstGeom prst="roundRect">
            <a:avLst>
              <a:gd name="adj" fmla="val 12500"/>
            </a:avLst>
          </a:prstGeom>
          <a:solidFill>
            <a:srgbClr val="C4402F">
              <a:alpha val="86000"/>
            </a:srgbClr>
          </a:solidFill>
          <a:ln w="12700">
            <a:solidFill>
              <a:srgbClr val="C4402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34472" y="5563085"/>
            <a:ext cx="219456" cy="700555"/>
          </a:xfrm>
          <a:prstGeom prst="roundRect">
            <a:avLst>
              <a:gd name="adj" fmla="val 12500"/>
            </a:avLst>
          </a:prstGeom>
          <a:solidFill>
            <a:srgbClr val="C4402F">
              <a:alpha val="92000"/>
            </a:srgbClr>
          </a:solidFill>
          <a:ln w="12700">
            <a:solidFill>
              <a:srgbClr val="C4402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5324897"/>
            <a:ext cx="219456" cy="938743"/>
          </a:xfrm>
          <a:prstGeom prst="roundRect">
            <a:avLst>
              <a:gd name="adj" fmla="val 12500"/>
            </a:avLst>
          </a:prstGeom>
          <a:solidFill>
            <a:srgbClr val="C4402F">
              <a:alpha val="98000"/>
            </a:srgbClr>
          </a:solidFill>
          <a:ln w="12700">
            <a:solidFill>
              <a:srgbClr val="C4402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FIZEMOS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recorrências, onze implementações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0312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C4402F"/>
          </a:solidFill>
          <a:ln w="12700">
            <a:solidFill>
              <a:srgbClr val="C440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= F(n−1) + F(n−2)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17720" y="2148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versões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35204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B07A1E"/>
          </a:solidFill>
          <a:ln w="12700">
            <a:solidFill>
              <a:srgbClr val="B07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P(n) = 2·P(n−1) + P(n−2)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17720" y="35661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versões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49377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6766A"/>
          </a:solidFill>
          <a:ln w="12700">
            <a:solidFill>
              <a:srgbClr val="1676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864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Catalan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5166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C(n+1) = Σ C(i)·C(n−i)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17720" y="4983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versões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1737360"/>
            <a:ext cx="4983480" cy="4160520"/>
          </a:xfrm>
          <a:prstGeom prst="roundRect">
            <a:avLst>
              <a:gd name="adj" fmla="val 1319"/>
            </a:avLst>
          </a:prstGeom>
          <a:solidFill>
            <a:srgbClr val="F2F4F6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medimos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0" y="260604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6766A"/>
          </a:solidFill>
          <a:ln w="12700">
            <a:solidFill>
              <a:srgbClr val="1676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14032" y="2532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3 rodadas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114032" y="28163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é sensível a um pico do SO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0" y="36576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6766A"/>
          </a:solidFill>
          <a:ln w="12700">
            <a:solidFill>
              <a:srgbClr val="1676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14032" y="3584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recriado a cada medição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114032" y="38679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senão a 2ª repetição mede ~0 e invalida tudo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47091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6766A"/>
          </a:solidFill>
          <a:ln w="12700">
            <a:solidFill>
              <a:srgbClr val="1676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14032" y="46360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Coletor de lixo desligado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114032" y="49194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coleta no meio soma dezenas de ms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  ·  FIBONACCI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versões, quatro gargalos diferentes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184708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C4402F">
              <a:alpha val="12000"/>
            </a:srgbClr>
          </a:solidFill>
          <a:ln w="12700">
            <a:solidFill>
              <a:srgbClr val="C44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Θ(φⁿ)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3042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recálculo da árvore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37160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Memoizada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39312" y="184708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6766A">
              <a:alpha val="12000"/>
            </a:srgbClr>
          </a:solidFill>
          <a:ln w="12700">
            <a:solidFill>
              <a:srgbClr val="1676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39312" y="23042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da pilha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37160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9944" y="184708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6766A">
              <a:alpha val="12000"/>
            </a:srgbClr>
          </a:solidFill>
          <a:ln w="12700">
            <a:solidFill>
              <a:srgbClr val="1676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9944" y="23042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dos inteiros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51976" y="137160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0576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Matricial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80576" y="184708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6766A">
              <a:alpha val="12000"/>
            </a:srgbClr>
          </a:solidFill>
          <a:ln w="12700">
            <a:solidFill>
              <a:srgbClr val="1676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Θ(log 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0576" y="23042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inteiros</a:t>
            </a:r>
            <a:endParaRPr lang="en-US" sz="11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6858000" cy="25146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F(15)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F(30)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Definição (recursiva)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617,1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78,5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4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107,4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Memoizada (top-down)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732,9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Iterativa (bottom-up)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187,0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346,1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7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662,6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759,5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772400" y="3017520"/>
            <a:ext cx="3776472" cy="2514600"/>
          </a:xfrm>
          <a:prstGeom prst="roundRect">
            <a:avLst>
              <a:gd name="adj" fmla="val 2182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46720" y="3291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162.000×</a:t>
            </a:r>
            <a:endParaRPr lang="en-US" sz="4200" dirty="0"/>
          </a:p>
        </p:txBody>
      </p:sp>
      <p:sp>
        <p:nvSpPr>
          <p:cNvPr id="27" name="Text 24"/>
          <p:cNvSpPr/>
          <p:nvPr/>
        </p:nvSpPr>
        <p:spPr>
          <a:xfrm>
            <a:off x="8046720" y="4114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107,4 ms  →  662,6 ns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8046720" y="4462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→ iterativa, em F(30)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04672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F(5) as quatro empatam: o problema não é o algoritmo, é o crescimento.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recursiva é Θ(φⁿ), não Θ(2ⁿ): a árvore não é cheia — um ramo desce n−1 e o outro n−2, e o número de folhas é exatamente F(n).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  ·  OS QUATRO GRÁFICOS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gráficos de Fibonacci mostram</a:t>
            </a:r>
            <a:endParaRPr lang="en-US" sz="3100" dirty="0"/>
          </a:p>
        </p:txBody>
      </p:sp>
      <p:pic>
        <p:nvPicPr>
          <p:cNvPr id="4" name="Image 0" descr="/mnt/user-data/uploads/01_fibonacci_tres_abordagens_lin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3931920" cy="2514015"/>
          </a:xfrm>
          <a:prstGeom prst="rect">
            <a:avLst/>
          </a:prstGeom>
        </p:spPr>
      </p:pic>
      <p:pic>
        <p:nvPicPr>
          <p:cNvPr id="5" name="Image 1" descr="/mnt/user-data/uploads/02_fibonacci_tres_abordagens_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371600"/>
            <a:ext cx="3931920" cy="2514015"/>
          </a:xfrm>
          <a:prstGeom prst="rect">
            <a:avLst/>
          </a:prstGeom>
        </p:spPr>
      </p:pic>
      <p:pic>
        <p:nvPicPr>
          <p:cNvPr id="6" name="Image 2" descr="/mnt/user-data/uploads/03_fibonacci_iterativa_vs_matri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69080"/>
            <a:ext cx="3931920" cy="2514015"/>
          </a:xfrm>
          <a:prstGeom prst="rect">
            <a:avLst/>
          </a:prstGeom>
        </p:spPr>
      </p:pic>
      <p:pic>
        <p:nvPicPr>
          <p:cNvPr id="7" name="Image 3" descr="/mnt/user-data/uploads/08_fibonacci_ponto_de_cruzamen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4069080"/>
            <a:ext cx="3931920" cy="2514015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732520" y="1371600"/>
            <a:ext cx="2834640" cy="48463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B07A1E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896112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achado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8961120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esconde</a:t>
            </a:r>
            <a:endParaRPr lang="en-US" sz="1250" dirty="0"/>
          </a:p>
        </p:txBody>
      </p:sp>
      <p:sp>
        <p:nvSpPr>
          <p:cNvPr id="11" name="Text 5"/>
          <p:cNvSpPr/>
          <p:nvPr/>
        </p:nvSpPr>
        <p:spPr>
          <a:xfrm>
            <a:off x="8961120" y="213055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curvas rápidas ficam coladas no zero: a recursiva é milhões de vezes mais lenta.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8961120" y="2971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revela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8961120" y="32278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 ascendente = crescimento exponencial. Cada +1 em n multiplica o tempo por ≈1,6.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8961120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n ≈ 129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8961120" y="43251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matricial Θ(log n) é a MAIS LENTA para n pequeno: 8 multiplicações por passo contra 1 soma.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961120" y="5166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Inclinação 1,53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8961120" y="542239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teoria previa k ≈ 0. log₂3 ≈ 1,585 é o expoente de Karatsuba — cronometramos a multiplicação, não o algoritmo.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  ·  PELL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Mesma estrutura, valores que crescem mais rápido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019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P(0)=0,  P(1)=1,  P(n) = 2·P(n−1) + P(n−2)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042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1, 2, 5, 12, 29, 70, 169, 408, 985, 2378 …        matriz [[2,1],[1,0]]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37560"/>
          <a:ext cx="5394960" cy="212140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P(15)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P(30)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Definição (recursiva)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635,2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84,8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4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113,4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218,3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564,9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780,3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1,42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1,97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577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P(30) = 107.578.520.350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46520" y="1691640"/>
            <a:ext cx="507492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1676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190195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aplicação: aproximar √2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20840" y="22860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H(n) = P(n) + P(n−1), a fração H(n)/P(n) resolve a equação de Pell  x² − 2y² = ±1  e converge para √2.</a:t>
            </a:r>
            <a:endParaRPr lang="en-US" sz="125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127248"/>
          <a:ext cx="4526280" cy="23774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H(n)/P(n)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vs √2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41/29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4,20×10⁻⁴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3363/2378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6,25×10⁻⁸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275807/195025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9,30×10⁻¹²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22619537/15994428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7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1,33×10⁻¹⁵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720840" y="55595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0,77 dígito correto por termo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  ·  GRÁFICOS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Pell: a árvore de recursão é a mesma de Fibonacci</a:t>
            </a:r>
            <a:endParaRPr lang="en-US" sz="3100" dirty="0"/>
          </a:p>
        </p:txBody>
      </p:sp>
      <p:pic>
        <p:nvPicPr>
          <p:cNvPr id="4" name="Image 0" descr="/mnt/user-data/uploads/04_pell_abordagens_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5440680" cy="3476473"/>
          </a:xfrm>
          <a:prstGeom prst="rect">
            <a:avLst/>
          </a:prstGeom>
        </p:spPr>
      </p:pic>
      <p:pic>
        <p:nvPicPr>
          <p:cNvPr id="5" name="Image 1" descr="/mnt/user-data/uploads/05_pell_iterativa_vs_matr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417320"/>
            <a:ext cx="5440680" cy="328543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5074920"/>
            <a:ext cx="5440680" cy="1325880"/>
          </a:xfrm>
          <a:prstGeom prst="roundRect">
            <a:avLst>
              <a:gd name="adj" fmla="val 4138"/>
            </a:avLst>
          </a:prstGeom>
          <a:solidFill>
            <a:srgbClr val="F2F4F6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522122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1,618 — não 2,414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31520" y="549554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“×2” da recorrência muda o valor calculado, não o número de chamadas: os dois ramos continuam sendo n−1 e n−2. Por isso a curva tem a mesma inclinação da de Fibonacci.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245352" y="5074920"/>
            <a:ext cx="5440680" cy="1325880"/>
          </a:xfrm>
          <a:prstGeom prst="roundRect">
            <a:avLst>
              <a:gd name="adj" fmla="val 4138"/>
            </a:avLst>
          </a:prstGeom>
          <a:solidFill>
            <a:srgbClr val="F2F4F6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73952" y="522122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 grande, a matricial abre vantagem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73952" y="549554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são retas em log-log, mas a matricial fica ~4× abaixo: mesma aritmética de inteiros gigantes, com muito menos passos.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  ·  CATALAN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erro de análise que nós mesmos cometemos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C(n+1) = Σ C(i)·C(n−i)   →   1, 1, 2, 5, 14, 42, 132, 429, 1430 …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C(3) = 5 árvores binárias com 3 nós  ·  C(4) = 14 formas de parentizar 5 fatores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60320"/>
          <a:ext cx="5577840" cy="26517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C(15)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C(30)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Definição (recursiva)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4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491,3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4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por convolução  Θ(n²)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27,8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multiplicativa  Θ(n)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math.comb  Θ(n) em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7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7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5321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ordem Θ(n), mas math.comb é ~20× mais rápida por ser implementada em C: a complexidade escolhe o algoritmo, a constante decide o vencedor dentro da classe.</a:t>
            </a:r>
            <a:endParaRPr lang="en-US" sz="1250" dirty="0"/>
          </a:p>
        </p:txBody>
      </p:sp>
      <p:sp>
        <p:nvSpPr>
          <p:cNvPr id="6" name="Shape 5"/>
          <p:cNvSpPr/>
          <p:nvPr/>
        </p:nvSpPr>
        <p:spPr>
          <a:xfrm>
            <a:off x="6446520" y="1645920"/>
            <a:ext cx="507492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440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184708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recursiva é Θ(3ⁿ) — não Θ(4ⁿ/n^1,5)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20840" y="22402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primeira análise usou o argumento “a árvore tem C(n) folhas”. Está errado: cada nó dispara 2n chamadas filhas, porque cada termo do somatório é um produto de duas chamadas.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720840" y="312724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1 + 2·Σ T(i)   →   Θ(3ⁿ),  com 4·3⁽ⁿ⁻²⁾ folhas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20840" y="358444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Conferimos de duas formas: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12280" y="389534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chamadas instrumentado na função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medida na própria série de tempos: 3,00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20840" y="5120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C(30) pela definição = 91.507.169.819.844 folhas → dias de execução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  ·  GRÁFICOS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Catalan: base 3 na curva, base 4 no valor</a:t>
            </a:r>
            <a:endParaRPr lang="en-US" sz="3100" dirty="0"/>
          </a:p>
        </p:txBody>
      </p:sp>
      <p:pic>
        <p:nvPicPr>
          <p:cNvPr id="4" name="Image 0" descr="/mnt/user-data/uploads/06_catalan_abordagens_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5440680" cy="3480921"/>
          </a:xfrm>
          <a:prstGeom prst="rect">
            <a:avLst/>
          </a:prstGeom>
        </p:spPr>
      </p:pic>
      <p:pic>
        <p:nvPicPr>
          <p:cNvPr id="5" name="Image 1" descr="/mnt/user-data/uploads/07_catalan_dp_vs_formu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417320"/>
            <a:ext cx="5440680" cy="328940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5074920"/>
            <a:ext cx="5440680" cy="1325880"/>
          </a:xfrm>
          <a:prstGeom prst="roundRect">
            <a:avLst>
              <a:gd name="adj" fmla="val 4138"/>
            </a:avLst>
          </a:prstGeom>
          <a:solidFill>
            <a:srgbClr val="F2F4F6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522122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+1 em n multiplica o tempo por 3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31520" y="549554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inclinação da reta confirma Θ(3ⁿ) e refuta o Θ(4ⁿ/n^1,5) da nossa primeira análise. Em n=2 a recursiva ainda ganha das outras duas: ela não tem estrutura de dados para montar.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245352" y="5074920"/>
            <a:ext cx="5440680" cy="1325880"/>
          </a:xfrm>
          <a:prstGeom prst="roundRect">
            <a:avLst>
              <a:gd name="adj" fmla="val 4138"/>
            </a:avLst>
          </a:prstGeom>
          <a:solidFill>
            <a:srgbClr val="F2F4F6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73952" y="522122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Θ(n²) e Θ(n) e a mesma Θ(n) duas vezes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73952" y="549554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DP se distancia por ser quadrática; a fórmula e o math.comb são paralelos — mesma ordem, separados só pela constante de estar em C.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DO ENUNCIADO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o maior número calculável em cada versão?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Critério: maior n que termina em até 1 segundo nesta máquina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38528"/>
          <a:ext cx="10881360" cy="226771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Sequência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 / DP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Matricial / fórmula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Fibonacci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4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996  (pilha)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433.000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7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2.095.000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4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197.500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7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1.055.000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4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1.600  (DP)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7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71.500   ·   comb ≈ 216.875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48056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6817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overflow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50749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usa inteiros de precisão arbitrária. O teto é sempre tempo, pilha ou memória — nunca o tipo de dado. Em int64, Fibonacci já estouraria em F(93).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55080" y="4480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250" dirty="0"/>
          </a:p>
        </p:txBody>
      </p:sp>
      <p:sp>
        <p:nvSpPr>
          <p:cNvPr id="5" name="Text 7"/>
          <p:cNvSpPr/>
          <p:nvPr/>
        </p:nvSpPr>
        <p:spPr>
          <a:xfrm>
            <a:off x="7772400" y="4480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46920" y="4480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34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4864608"/>
            <a:ext cx="5166360" cy="0"/>
          </a:xfrm>
          <a:prstGeom prst="line">
            <a:avLst/>
          </a:prstGeom>
          <a:noFill/>
          <a:ln w="12700">
            <a:solidFill>
              <a:srgbClr val="DDE2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5047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Memoizada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0" y="50474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de recursão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646920" y="50474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RecursionError em 996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355080" y="5431536"/>
            <a:ext cx="5166360" cy="0"/>
          </a:xfrm>
          <a:prstGeom prst="line">
            <a:avLst/>
          </a:prstGeom>
          <a:noFill/>
          <a:ln w="12700">
            <a:solidFill>
              <a:srgbClr val="DDE2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5614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Matricial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72400" y="56144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número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646920" y="56144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437.829 dígitos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355080" y="59893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996 = sys.getrecursionlimit() menos os quadros já ocupados.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do algoritmo não é o tamanho do resultado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5943600" cy="19019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9FB0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A4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FB0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da recursiva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A4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FB0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Crescimento do valor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A4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Fibonacci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Θ(φⁿ) = 1,618ⁿ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1,618ⁿ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0A2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Θ(φⁿ) = 1,618ⁿ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6FD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2,414ⁿ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32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0A2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Θ(3ⁿ)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6FD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~4ⁿ/n^1,5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463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evidência está nos nossos dados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4944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e Pell recursivos param no mesmo n = 34, com 107 ms e 113 ms. A árvore de chamadas é idêntica — dois ramos, n−1 e n−2.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49440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assintótica descreve o comportamento no limite: não diz qual versão é mais rápida no n que você usa, nem vale quando a operação básica deixa de custar constante.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794760"/>
            <a:ext cx="10881360" cy="0"/>
          </a:xfrm>
          <a:prstGeom prst="line">
            <a:avLst/>
          </a:prstGeom>
          <a:noFill/>
          <a:ln w="12700">
            <a:solidFill>
              <a:srgbClr val="3A455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9776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4279392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9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 et al. Introduction to Algorithms, 4. ed. MIT Press, 2022.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9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KNUTH, D. E. TAOCP, v. 1, 3. ed. Addison-Wesley, 1997.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9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GRAHAM; KNUTH; PATASHNIK. Concrete Mathematics, 2. ed. 1994.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9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STANLEY, R. P. Catalan Numbers. Cambridge Univ. Press, 2015.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9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OEIS: A000045, A000129, A000108 · Documentação do Python 3.13.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9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HUNTER, J. D. Matplotlib. Computing in Science &amp; Engineering, 2007.</a:t>
            </a:r>
            <a:endParaRPr lang="en-US" sz="1100" dirty="0"/>
          </a:p>
        </p:txBody>
      </p:sp>
      <p:sp>
        <p:nvSpPr>
          <p:cNvPr id="4" name="Text 8"/>
          <p:cNvSpPr/>
          <p:nvPr/>
        </p:nvSpPr>
        <p:spPr>
          <a:xfrm>
            <a:off x="6949440" y="3977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49440" y="42793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(Anthropic), modelo Claude Opus 5 — 9 prompts documentados no README, na ordem em que foram usados.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49440" y="4846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com IA:  </a:t>
            </a:r>
            <a:r>
              <a:rPr lang="en-US" sz="1100" dirty="0">
                <a:solidFill>
                  <a:srgbClr val="B9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dos módulos, implementações, harness de medição e texto de análise.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49440" y="5440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 pelo grupo:  </a:t>
            </a:r>
            <a:r>
              <a:rPr lang="en-US" sz="1100" dirty="0">
                <a:solidFill>
                  <a:srgbClr val="B9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validação, execução dos experimentos, interpretação dos gráficos e a correção de duas análises erradas.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 ·  Guilherme Dias · Breno Chaves · Barbara Malta · Guilherme Rocha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2961</Words>
  <Application>Microsoft Office PowerPoint</Application>
  <PresentationFormat>Widescreen</PresentationFormat>
  <Paragraphs>246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Fibonacci, Pell e Catalan</dc:title>
  <dc:subject>PptxGenJS Presentation</dc:subject>
  <dc:creator>Grupo IBM0798</dc:creator>
  <cp:lastModifiedBy>GUILHERME DIAS BATISTA</cp:lastModifiedBy>
  <cp:revision>2</cp:revision>
  <dcterms:created xsi:type="dcterms:W3CDTF">2026-08-13T00:23:30Z</dcterms:created>
  <dcterms:modified xsi:type="dcterms:W3CDTF">2026-08-13T00:26:19Z</dcterms:modified>
</cp:coreProperties>
</file>